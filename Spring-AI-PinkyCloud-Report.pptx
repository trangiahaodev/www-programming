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C527B"/>
          </a:solidFill>
          <a:ln>
            <a:solidFill>
              <a:srgbClr val="EC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02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C527B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56616"/>
            <a:ext cx="104241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D2630"/>
                </a:solidFill>
                <a:latin typeface="Aptos"/>
              </a:rPr>
              <a:t>Spring AI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896112"/>
            <a:ext cx="10149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06370"/>
                </a:solidFill>
                <a:latin typeface="Aptos"/>
              </a:rPr>
              <a:t>Lớp trừu tượng giúp ứng dụng Spring giao tiếp với mô hình ngôn ngữ lớn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706370"/>
                </a:solidFill>
                <a:latin typeface="Aptos"/>
              </a:rPr>
              <a:t>PinkyCloud • Spring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EC527B"/>
                </a:solidFill>
                <a:latin typeface="Aptos"/>
              </a:rPr>
              <a:t>Đạt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12080" cy="4251960"/>
          </a:xfrm>
          <a:prstGeom prst="roundRect">
            <a:avLst>
              <a:gd name="adj" fmla="val 12000"/>
            </a:avLst>
          </a:prstGeom>
          <a:solidFill>
            <a:srgbClr val="FFF7FA"/>
          </a:solidFill>
          <a:ln>
            <a:solidFill>
              <a:srgbClr val="F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5720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1">
                <a:solidFill>
                  <a:srgbClr val="EC527B"/>
                </a:solidFill>
                <a:latin typeface="Aptos"/>
              </a:rPr>
              <a:t>Khái niệm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4617720" cy="2560320"/>
          </a:xfrm>
          <a:prstGeom prst="rect">
            <a:avLst/>
          </a:prstGeom>
          <a:noFill/>
        </p:spPr>
        <p:txBody>
          <a:bodyPr wrap="square" lIns="54864" rIns="36576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D2630"/>
                </a:solidFill>
                <a:latin typeface="Aptos"/>
              </a:defRPr>
            </a:pPr>
            <a:r>
              <a:t>• Spring AI là dự án thuộc hệ sinh thái Spring, chuẩn hóa cách tích hợp AI vào ứng dụng Java.</a:t>
            </a:r>
          </a:p>
          <a:p>
            <a:pPr>
              <a:spcAft>
                <a:spcPts val="700"/>
              </a:spcAft>
              <a:defRPr sz="1600">
                <a:solidFill>
                  <a:srgbClr val="2D2630"/>
                </a:solidFill>
                <a:latin typeface="Aptos"/>
              </a:defRPr>
            </a:pPr>
            <a:r>
              <a:t>• Tương tự Spring Data, ứng dụng dùng một abstraction chung thay vì phụ thuộc trực tiếp vào từng nhà cung cấp.</a:t>
            </a:r>
          </a:p>
          <a:p>
            <a:pPr>
              <a:spcAft>
                <a:spcPts val="700"/>
              </a:spcAft>
              <a:defRPr sz="1600">
                <a:solidFill>
                  <a:srgbClr val="2D2630"/>
                </a:solidFill>
                <a:latin typeface="Aptos"/>
              </a:defRPr>
            </a:pPr>
            <a:r>
              <a:t>• PinkyCloud kết nối Google Gemini và OpenAI cho chức năng tư vấn mỹ phẩm.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20"/>
            <a:ext cx="507492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737360"/>
            <a:ext cx="4389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1">
                <a:solidFill>
                  <a:srgbClr val="7B539C"/>
                </a:solidFill>
                <a:latin typeface="Aptos"/>
              </a:rPr>
              <a:t>Tư duy kiến trúc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286000"/>
            <a:ext cx="4206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2D2630"/>
                </a:solidFill>
                <a:latin typeface="Aptos"/>
              </a:rPr>
              <a:t>Ứng dụng nghiệp vụ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32520" y="2834640"/>
            <a:ext cx="0" cy="365760"/>
          </a:xfrm>
          <a:prstGeom prst="line">
            <a:avLst/>
          </a:prstGeom>
          <a:ln w="27940">
            <a:solidFill>
              <a:srgbClr val="7B5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903720" y="3218688"/>
            <a:ext cx="3657600" cy="658368"/>
          </a:xfrm>
          <a:prstGeom prst="roundRect">
            <a:avLst>
              <a:gd name="adj" fmla="val 12000"/>
            </a:avLst>
          </a:prstGeom>
          <a:solidFill>
            <a:srgbClr val="FFE8F0"/>
          </a:solidFill>
          <a:ln>
            <a:solidFill>
              <a:srgbClr val="EC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3383280"/>
            <a:ext cx="3383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EC527B"/>
                </a:solidFill>
                <a:latin typeface="Aptos"/>
              </a:rPr>
              <a:t>Spring AI abstraction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589520" y="3913632"/>
            <a:ext cx="1143000" cy="402336"/>
          </a:xfrm>
          <a:prstGeom prst="line">
            <a:avLst/>
          </a:prstGeom>
          <a:ln w="27940">
            <a:solidFill>
              <a:srgbClr val="7B5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32520" y="3913632"/>
            <a:ext cx="1143000" cy="402336"/>
          </a:xfrm>
          <a:prstGeom prst="line">
            <a:avLst/>
          </a:prstGeom>
          <a:ln w="27940">
            <a:solidFill>
              <a:srgbClr val="7B53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46520" y="4370832"/>
            <a:ext cx="2331720" cy="347472"/>
          </a:xfrm>
          <a:prstGeom prst="roundRect">
            <a:avLst>
              <a:gd name="adj" fmla="val 12000"/>
            </a:avLst>
          </a:prstGeom>
          <a:solidFill>
            <a:srgbClr val="E7F9F1"/>
          </a:solidFill>
          <a:ln>
            <a:solidFill>
              <a:srgbClr val="40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4416552"/>
            <a:ext cx="2185415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40A078"/>
                </a:solidFill>
                <a:latin typeface="Aptos"/>
              </a:rPr>
              <a:t>Google Gemini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2832" y="4370832"/>
            <a:ext cx="2148840" cy="347472"/>
          </a:xfrm>
          <a:prstGeom prst="roundRect">
            <a:avLst>
              <a:gd name="adj" fmla="val 12000"/>
            </a:avLst>
          </a:prstGeom>
          <a:solidFill>
            <a:srgbClr val="F2EBF9"/>
          </a:solidFill>
          <a:ln>
            <a:solidFill>
              <a:srgbClr val="7B5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15984" y="4416552"/>
            <a:ext cx="2002536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7B539C"/>
                </a:solidFill>
                <a:latin typeface="Aptos"/>
              </a:rPr>
              <a:t>OpenAI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5074920"/>
            <a:ext cx="44805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706370"/>
                </a:solidFill>
                <a:latin typeface="Aptos"/>
              </a:rPr>
              <a:t>Thay provider bằng cấu hình, giữ nguyên luồng nghiệp vụ.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C527B"/>
          </a:solidFill>
          <a:ln>
            <a:solidFill>
              <a:srgbClr val="EC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02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C527B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56616"/>
            <a:ext cx="104241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D2630"/>
                </a:solidFill>
                <a:latin typeface="Aptos"/>
              </a:rPr>
              <a:t>Các thành phần cốt lõi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896112"/>
            <a:ext cx="10149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06370"/>
                </a:solidFill>
                <a:latin typeface="Aptos"/>
              </a:rPr>
              <a:t>Những abstraction được dùng trong phần tư vấn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706370"/>
                </a:solidFill>
                <a:latin typeface="Aptos"/>
              </a:rPr>
              <a:t>PinkyCloud • Spring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EC527B"/>
                </a:solidFill>
                <a:latin typeface="Aptos"/>
              </a:rPr>
              <a:t>Đạt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744200" cy="960120"/>
          </a:xfrm>
          <a:prstGeom prst="roundRect">
            <a:avLst>
              <a:gd name="adj" fmla="val 12000"/>
            </a:avLst>
          </a:prstGeom>
          <a:solidFill>
            <a:srgbClr val="FFF7FA"/>
          </a:solidFill>
          <a:ln>
            <a:solidFill>
              <a:srgbClr val="F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1783080"/>
            <a:ext cx="2331720" cy="347472"/>
          </a:xfrm>
          <a:prstGeom prst="roundRect">
            <a:avLst>
              <a:gd name="adj" fmla="val 12000"/>
            </a:avLst>
          </a:prstGeom>
          <a:solidFill>
            <a:srgbClr val="FFE8F0"/>
          </a:solidFill>
          <a:ln>
            <a:solidFill>
              <a:srgbClr val="EC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828800"/>
            <a:ext cx="2185415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C527B"/>
                </a:solidFill>
                <a:latin typeface="Aptos"/>
              </a:rPr>
              <a:t>ChatClient / ChatModel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719072"/>
            <a:ext cx="72694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D2630"/>
                </a:solidFill>
                <a:latin typeface="Aptos"/>
              </a:rPr>
              <a:t>API thống nhất để gửi prompt và nhận nội dung từ LLM.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07208"/>
            <a:ext cx="10744200" cy="960120"/>
          </a:xfrm>
          <a:prstGeom prst="roundRect">
            <a:avLst>
              <a:gd name="adj" fmla="val 12000"/>
            </a:avLst>
          </a:prstGeom>
          <a:solidFill>
            <a:srgbClr val="FFF7FA"/>
          </a:solidFill>
          <a:ln>
            <a:solidFill>
              <a:srgbClr val="F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3081527"/>
            <a:ext cx="2331720" cy="347472"/>
          </a:xfrm>
          <a:prstGeom prst="roundRect">
            <a:avLst>
              <a:gd name="adj" fmla="val 12000"/>
            </a:avLst>
          </a:prstGeom>
          <a:solidFill>
            <a:srgbClr val="F2EBF9"/>
          </a:solidFill>
          <a:ln>
            <a:solidFill>
              <a:srgbClr val="7B5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127247"/>
            <a:ext cx="2185415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7B539C"/>
                </a:solidFill>
                <a:latin typeface="Aptos"/>
              </a:rPr>
              <a:t>PromptTemplate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017520"/>
            <a:ext cx="72694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D2630"/>
                </a:solidFill>
                <a:latin typeface="Aptos"/>
              </a:rPr>
              <a:t>Đóng gói prompt, ghép dữ liệu tracking vào ngữ cảnh tư vấn.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05656"/>
            <a:ext cx="10744200" cy="960120"/>
          </a:xfrm>
          <a:prstGeom prst="roundRect">
            <a:avLst>
              <a:gd name="adj" fmla="val 12000"/>
            </a:avLst>
          </a:prstGeom>
          <a:solidFill>
            <a:srgbClr val="FFF7FA"/>
          </a:solidFill>
          <a:ln>
            <a:solidFill>
              <a:srgbClr val="F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4379976"/>
            <a:ext cx="2331720" cy="347472"/>
          </a:xfrm>
          <a:prstGeom prst="roundRect">
            <a:avLst>
              <a:gd name="adj" fmla="val 12000"/>
            </a:avLst>
          </a:prstGeom>
          <a:solidFill>
            <a:srgbClr val="F2EBF9"/>
          </a:solidFill>
          <a:ln>
            <a:solidFill>
              <a:srgbClr val="7B5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425696"/>
            <a:ext cx="2185415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7B539C"/>
                </a:solidFill>
                <a:latin typeface="Aptos"/>
              </a:rPr>
              <a:t>application.properties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315968"/>
            <a:ext cx="72694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D2630"/>
                </a:solidFill>
                <a:latin typeface="Aptos"/>
              </a:rPr>
              <a:t>Đổi model/provider và đọc key từ biến môi trường, không sửa Java code.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532120"/>
            <a:ext cx="10744200" cy="502920"/>
          </a:xfrm>
          <a:prstGeom prst="roundRect">
            <a:avLst>
              <a:gd name="adj" fmla="val 12000"/>
            </a:avLst>
          </a:prstGeom>
          <a:solidFill>
            <a:srgbClr val="FAF4F7"/>
          </a:solidFill>
          <a:ln>
            <a:solidFill>
              <a:srgbClr val="F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650992"/>
            <a:ext cx="10241280" cy="2103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EC527B"/>
                </a:solidFill>
                <a:latin typeface="Aptos"/>
              </a:rPr>
              <a:t>Dữ liệu đầu vào: số click • thời gian xem • sản phẩm gần đây → prompt tư vấn tiếng Việt.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C527B"/>
          </a:solidFill>
          <a:ln>
            <a:solidFill>
              <a:srgbClr val="EC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02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C527B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56616"/>
            <a:ext cx="104241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D2630"/>
                </a:solidFill>
                <a:latin typeface="Aptos"/>
              </a:rPr>
              <a:t>Kiến trúc AI trong PinkyCloud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896112"/>
            <a:ext cx="10149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06370"/>
                </a:solidFill>
                <a:latin typeface="Aptos"/>
              </a:rPr>
              <a:t>Các lớp tham gia khi khách hàng yêu cầu phân tích hành 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706370"/>
                </a:solidFill>
                <a:latin typeface="Aptos"/>
              </a:rPr>
              <a:t>PinkyCloud • Spring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EC527B"/>
                </a:solidFill>
                <a:latin typeface="Aptos"/>
              </a:rPr>
              <a:t>Đạt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148840" cy="914400"/>
          </a:xfrm>
          <a:prstGeom prst="roundRect">
            <a:avLst>
              <a:gd name="adj" fmla="val 12000"/>
            </a:avLst>
          </a:prstGeom>
          <a:solidFill>
            <a:srgbClr val="FFE8F0"/>
          </a:solidFill>
          <a:ln>
            <a:solidFill>
              <a:srgbClr val="EC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1929384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EC527B"/>
                </a:solidFill>
                <a:latin typeface="Aptos"/>
              </a:rPr>
              <a:t>Customer UI
chatbot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828800"/>
            <a:ext cx="2423160" cy="914400"/>
          </a:xfrm>
          <a:prstGeom prst="roundRect">
            <a:avLst>
              <a:gd name="adj" fmla="val 12000"/>
            </a:avLst>
          </a:prstGeom>
          <a:solidFill>
            <a:srgbClr val="F2EBF9"/>
          </a:solidFill>
          <a:ln>
            <a:solidFill>
              <a:srgbClr val="7B5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1993392"/>
            <a:ext cx="2203704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7B539C"/>
                </a:solidFill>
                <a:latin typeface="Aptos"/>
              </a:rPr>
              <a:t>TrackingAiController
/api/tracking/ai-advice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82880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E7F9F1"/>
          </a:solidFill>
          <a:ln>
            <a:solidFill>
              <a:srgbClr val="40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8" y="1993392"/>
            <a:ext cx="2112263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40A078"/>
                </a:solidFill>
                <a:latin typeface="Aptos"/>
              </a:rPr>
              <a:t>AiAdvisorService
TrackingContext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325880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FFE8F0"/>
          </a:solidFill>
          <a:ln>
            <a:solidFill>
              <a:srgbClr val="EC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42248" y="1490472"/>
            <a:ext cx="2066543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EC527B"/>
                </a:solidFill>
                <a:latin typeface="Aptos"/>
              </a:rPr>
              <a:t>Gemini
provider chính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606040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F2EBF9"/>
          </a:solidFill>
          <a:ln>
            <a:solidFill>
              <a:srgbClr val="7B5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42248" y="2770632"/>
            <a:ext cx="2066543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7B539C"/>
                </a:solidFill>
                <a:latin typeface="Aptos"/>
              </a:rPr>
              <a:t>OpenAI
provider dự phòng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3886200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FFF4E2"/>
          </a:solidFill>
          <a:ln>
            <a:solidFill>
              <a:srgbClr val="EE9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42248" y="4050791"/>
            <a:ext cx="2066543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EE914A"/>
                </a:solidFill>
                <a:latin typeface="Aptos"/>
              </a:rPr>
              <a:t>Mock response
luôn có fallback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88920" y="2286000"/>
            <a:ext cx="320040" cy="0"/>
          </a:xfrm>
          <a:prstGeom prst="line">
            <a:avLst/>
          </a:prstGeom>
          <a:ln w="27940">
            <a:solidFill>
              <a:srgbClr val="EC5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23560" y="2286000"/>
            <a:ext cx="320040" cy="0"/>
          </a:xfrm>
          <a:prstGeom prst="line">
            <a:avLst/>
          </a:prstGeom>
          <a:ln w="27940">
            <a:solidFill>
              <a:srgbClr val="EC5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321040" y="1737360"/>
            <a:ext cx="365760" cy="320040"/>
          </a:xfrm>
          <a:prstGeom prst="line">
            <a:avLst/>
          </a:prstGeom>
          <a:ln w="27940">
            <a:solidFill>
              <a:srgbClr val="EC5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321040" y="2331720"/>
            <a:ext cx="365760" cy="640080"/>
          </a:xfrm>
          <a:prstGeom prst="line">
            <a:avLst/>
          </a:prstGeom>
          <a:ln w="27940">
            <a:solidFill>
              <a:srgbClr val="EC5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21040" y="2560320"/>
            <a:ext cx="365760" cy="1691640"/>
          </a:xfrm>
          <a:prstGeom prst="line">
            <a:avLst/>
          </a:prstGeom>
          <a:ln w="27940">
            <a:solidFill>
              <a:srgbClr val="EC5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530352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706370"/>
                </a:solidFill>
                <a:latin typeface="Aptos"/>
              </a:rPr>
              <a:t>SecurityConfig cho phép khách vãng lai gọi /api/tracking/**; chatbot hiển thị field advice trong giao diện.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C527B"/>
          </a:solidFill>
          <a:ln>
            <a:solidFill>
              <a:srgbClr val="EC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02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C527B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56616"/>
            <a:ext cx="104241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D2630"/>
                </a:solidFill>
                <a:latin typeface="Aptos"/>
              </a:rPr>
              <a:t>Luồng xử lý chức năng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896112"/>
            <a:ext cx="10149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06370"/>
                </a:solidFill>
                <a:latin typeface="Aptos"/>
              </a:rPr>
              <a:t>Gemini → OpenAI → Mock, không để lỗi AI làm hỏng trải nghiệm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706370"/>
                </a:solidFill>
                <a:latin typeface="Aptos"/>
              </a:rPr>
              <a:t>PinkyCloud • Spring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EC527B"/>
                </a:solidFill>
                <a:latin typeface="Aptos"/>
              </a:rPr>
              <a:t>Đạt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25880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EC527B"/>
          </a:solidFill>
          <a:ln>
            <a:solidFill>
              <a:srgbClr val="EC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99032"/>
            <a:ext cx="53035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344168"/>
            <a:ext cx="28346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D2630"/>
                </a:solidFill>
                <a:latin typeface="Aptos"/>
              </a:rPr>
              <a:t>Khách click / xem sản phẩm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335024"/>
            <a:ext cx="6629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06370"/>
                </a:solidFill>
                <a:latin typeface="Aptos"/>
              </a:rPr>
              <a:t>Tracking lưu clickCount, dwellTimeSeconds, lastProductName.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33856" y="1874519"/>
            <a:ext cx="0" cy="301753"/>
          </a:xfrm>
          <a:prstGeom prst="line">
            <a:avLst/>
          </a:prstGeom>
          <a:ln w="27940">
            <a:solidFill>
              <a:srgbClr val="EC5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8680" y="2221991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EC527B"/>
          </a:solidFill>
          <a:ln>
            <a:solidFill>
              <a:srgbClr val="EC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95144"/>
            <a:ext cx="53035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240279"/>
            <a:ext cx="28346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D2630"/>
                </a:solidFill>
                <a:latin typeface="Aptos"/>
              </a:rPr>
              <a:t>Frontend gọi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231135"/>
            <a:ext cx="6629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06370"/>
                </a:solidFill>
                <a:latin typeface="Aptos"/>
              </a:rPr>
              <a:t>GET /api/tracking/ai-advice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33856" y="2770632"/>
            <a:ext cx="0" cy="301752"/>
          </a:xfrm>
          <a:prstGeom prst="line">
            <a:avLst/>
          </a:prstGeom>
          <a:ln w="27940">
            <a:solidFill>
              <a:srgbClr val="EC5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8680" y="3118104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EC527B"/>
          </a:solidFill>
          <a:ln>
            <a:solidFill>
              <a:srgbClr val="EC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191256"/>
            <a:ext cx="53035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136392"/>
            <a:ext cx="28346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D2630"/>
                </a:solidFill>
                <a:latin typeface="Aptos"/>
              </a:rPr>
              <a:t>Backend tạo 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27248"/>
            <a:ext cx="6629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06370"/>
                </a:solidFill>
                <a:latin typeface="Aptos"/>
              </a:rPr>
              <a:t>TrackingAiController → TrackingContext → AiAdvisorService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33856" y="3666744"/>
            <a:ext cx="0" cy="301752"/>
          </a:xfrm>
          <a:prstGeom prst="line">
            <a:avLst/>
          </a:prstGeom>
          <a:ln w="27940">
            <a:solidFill>
              <a:srgbClr val="EC5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68680" y="4014215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EC527B"/>
          </a:solidFill>
          <a:ln>
            <a:solidFill>
              <a:srgbClr val="EC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087368"/>
            <a:ext cx="53035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032503"/>
            <a:ext cx="28346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D2630"/>
                </a:solidFill>
                <a:latin typeface="Aptos"/>
              </a:rPr>
              <a:t>Gọi Gemini trước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023359"/>
            <a:ext cx="6629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06370"/>
                </a:solidFill>
                <a:latin typeface="Aptos"/>
              </a:rPr>
              <a:t>Nếu có nội dung hợp lệ, trả ngay cho chatbot.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33856" y="4562855"/>
            <a:ext cx="0" cy="301752"/>
          </a:xfrm>
          <a:prstGeom prst="line">
            <a:avLst/>
          </a:prstGeom>
          <a:ln w="27940">
            <a:solidFill>
              <a:srgbClr val="EC5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68680" y="491032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EC527B"/>
          </a:solidFill>
          <a:ln>
            <a:solidFill>
              <a:srgbClr val="EC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983480"/>
            <a:ext cx="530352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928616"/>
            <a:ext cx="28346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D2630"/>
                </a:solidFill>
                <a:latin typeface="Aptos"/>
              </a:rPr>
              <a:t>Fallback an toàn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919472"/>
            <a:ext cx="6629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06370"/>
                </a:solidFill>
                <a:latin typeface="Aptos"/>
              </a:rPr>
              <a:t>Gemini lỗi → OpenAI; cả hai lỗi → mock JSON advice.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5577840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E7F9F1"/>
          </a:solidFill>
          <a:ln>
            <a:solidFill>
              <a:srgbClr val="40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5696712"/>
            <a:ext cx="2971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40A078"/>
                </a:solidFill>
                <a:latin typeface="Aptos"/>
              </a:rPr>
              <a:t>HTTP 200 + { "advice": "..."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C527B"/>
          </a:solidFill>
          <a:ln>
            <a:solidFill>
              <a:srgbClr val="EC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02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C527B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56616"/>
            <a:ext cx="104241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D2630"/>
                </a:solidFill>
                <a:latin typeface="Aptos"/>
              </a:rPr>
              <a:t>Cấu hình và bảo mật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896112"/>
            <a:ext cx="10149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06370"/>
                </a:solidFill>
                <a:latin typeface="Aptos"/>
              </a:rPr>
              <a:t>Tách secret khỏi mã nguồn, mở đúng API cho 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706370"/>
                </a:solidFill>
                <a:latin typeface="Aptos"/>
              </a:rPr>
              <a:t>PinkyCloud • Spring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EC527B"/>
                </a:solidFill>
                <a:latin typeface="Aptos"/>
              </a:rPr>
              <a:t>Đạt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303520" cy="4434840"/>
          </a:xfrm>
          <a:prstGeom prst="roundRect">
            <a:avLst>
              <a:gd name="adj" fmla="val 12000"/>
            </a:avLst>
          </a:prstGeom>
          <a:solidFill>
            <a:srgbClr val="FFF7FA"/>
          </a:solidFill>
          <a:ln>
            <a:solidFill>
              <a:srgbClr val="F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45720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C527B"/>
                </a:solidFill>
                <a:latin typeface="Aptos"/>
              </a:rPr>
              <a:t>Cấu hình môi trường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4572000" cy="3200400"/>
          </a:xfrm>
          <a:prstGeom prst="rect">
            <a:avLst/>
          </a:prstGeom>
          <a:noFill/>
        </p:spPr>
        <p:txBody>
          <a:bodyPr wrap="square" lIns="54864" rIns="36576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D2630"/>
                </a:solidFill>
                <a:latin typeface="Aptos"/>
              </a:defRPr>
            </a:pPr>
            <a:r>
              <a:t>• GEMINI_API_KEY và OPENAI_API_KEY chỉ truyền qua biến môi trường.</a:t>
            </a:r>
          </a:p>
          <a:p>
            <a:pPr>
              <a:spcAft>
                <a:spcPts val="700"/>
              </a:spcAft>
              <a:defRPr sz="1500">
                <a:solidFill>
                  <a:srgbClr val="2D2630"/>
                </a:solidFill>
                <a:latin typeface="Aptos"/>
              </a:defRPr>
            </a:pPr>
            <a:r>
              <a:t>• AI_ENABLED bật/tắt tính năng AI.</a:t>
            </a:r>
          </a:p>
          <a:p>
            <a:pPr>
              <a:spcAft>
                <a:spcPts val="700"/>
              </a:spcAft>
              <a:defRPr sz="1500">
                <a:solidFill>
                  <a:srgbClr val="2D2630"/>
                </a:solidFill>
                <a:latin typeface="Aptos"/>
              </a:defRPr>
            </a:pPr>
            <a:r>
              <a:t>• GEMINI_MODEL và OPENAI_MODEL đổi model mà không sửa logic service.</a:t>
            </a:r>
          </a:p>
          <a:p>
            <a:pPr>
              <a:spcAft>
                <a:spcPts val="700"/>
              </a:spcAft>
              <a:defRPr sz="1500">
                <a:solidFill>
                  <a:srgbClr val="2D2630"/>
                </a:solidFill>
                <a:latin typeface="Aptos"/>
              </a:defRPr>
            </a:pPr>
            <a:r>
              <a:t>• Mock response giúp app vẫn khởi động khi thiếu key hoặc provider lỗi.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029200" cy="4434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691640"/>
            <a:ext cx="43891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7B539C"/>
                </a:solidFill>
                <a:latin typeface="Aptos"/>
              </a:rPr>
              <a:t>Spring Security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240280"/>
            <a:ext cx="4160520" cy="347472"/>
          </a:xfrm>
          <a:prstGeom prst="roundRect">
            <a:avLst>
              <a:gd name="adj" fmla="val 12000"/>
            </a:avLst>
          </a:prstGeom>
          <a:solidFill>
            <a:srgbClr val="F2EBF9"/>
          </a:solidFill>
          <a:ln>
            <a:solidFill>
              <a:srgbClr val="7B5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5432" y="2286000"/>
            <a:ext cx="4014215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7B539C"/>
                </a:solidFill>
                <a:latin typeface="Aptos"/>
              </a:rPr>
              <a:t>/api/tracking/** → permitAll()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2971800"/>
            <a:ext cx="4160520" cy="347472"/>
          </a:xfrm>
          <a:prstGeom prst="roundRect">
            <a:avLst>
              <a:gd name="adj" fmla="val 12000"/>
            </a:avLst>
          </a:prstGeom>
          <a:solidFill>
            <a:srgbClr val="E7F9F1"/>
          </a:solidFill>
          <a:ln>
            <a:solidFill>
              <a:srgbClr val="40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5432" y="3017520"/>
            <a:ext cx="4014215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40A078"/>
                </a:solidFill>
                <a:latin typeface="Aptos"/>
              </a:rPr>
              <a:t>CSRF bỏ qua cho /api/**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822191"/>
            <a:ext cx="406908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D2630"/>
                </a:solidFill>
                <a:latin typeface="Aptos"/>
              </a:rPr>
              <a:t>Mục tiêu: khách vãng lai gọi được chatbot tracking, nhưng secret không xuất hiện trong Git hoặc response.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C527B"/>
          </a:solidFill>
          <a:ln>
            <a:solidFill>
              <a:srgbClr val="EC5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02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C527B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56616"/>
            <a:ext cx="104241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D2630"/>
                </a:solidFill>
                <a:latin typeface="Aptos"/>
              </a:rPr>
              <a:t>Demo và kết quả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896112"/>
            <a:ext cx="10149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06370"/>
                </a:solidFill>
                <a:latin typeface="Aptos"/>
              </a:rPr>
              <a:t>Cách nhóm có thể kiểm tra nhanh trên máy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706370"/>
                </a:solidFill>
                <a:latin typeface="Aptos"/>
              </a:rPr>
              <a:t>PinkyCloud • Spring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EC527B"/>
                </a:solidFill>
                <a:latin typeface="Aptos"/>
              </a:rPr>
              <a:t>Đạt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6675120" cy="4480560"/>
          </a:xfrm>
          <a:prstGeom prst="roundRect">
            <a:avLst>
              <a:gd name="adj" fmla="val 12000"/>
            </a:avLst>
          </a:prstGeom>
          <a:solidFill>
            <a:srgbClr val="2D2630"/>
          </a:solidFill>
          <a:ln>
            <a:solidFill>
              <a:srgbClr val="2D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6126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BEB4C0"/>
                </a:solidFill>
                <a:latin typeface="Aptos"/>
              </a:rPr>
              <a:t>PowerShell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6080760" cy="2560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$env:AI_ENABLED="true"
$env:GEMINI_API_KEY="..."
$env:GEMINI_MODEL="gemini-3.5-flash"
.\mvnw.cmd spring-boot:run "-Dspring-boot.run.arguments=--app.seed-products=false"
Invoke-RestMethod "http://localhost:8081/api/tracking/ai-advice?clickCount=3&amp;dwellTimeSeconds=20&amp;lastProductName=CeraVe"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371600"/>
            <a:ext cx="3749039" cy="4480560"/>
          </a:xfrm>
          <a:prstGeom prst="roundRect">
            <a:avLst>
              <a:gd name="adj" fmla="val 12000"/>
            </a:avLst>
          </a:prstGeom>
          <a:solidFill>
            <a:srgbClr val="E7F9F1"/>
          </a:solidFill>
          <a:ln>
            <a:solidFill>
              <a:srgbClr val="40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69164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40A078"/>
                </a:solidFill>
                <a:latin typeface="Aptos"/>
              </a:rPr>
              <a:t>Kết quả đã xác nhận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194560"/>
            <a:ext cx="3063240" cy="2560320"/>
          </a:xfrm>
          <a:prstGeom prst="rect">
            <a:avLst/>
          </a:prstGeom>
          <a:noFill/>
        </p:spPr>
        <p:txBody>
          <a:bodyPr wrap="square" lIns="54864" rIns="36576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2630"/>
                </a:solidFill>
                <a:latin typeface="Aptos"/>
              </a:defRPr>
            </a:pPr>
            <a:r>
              <a:t>• Gemini ChatClient được tạo thành công.</a:t>
            </a:r>
          </a:p>
          <a:p>
            <a:pPr>
              <a:spcAft>
                <a:spcPts val="700"/>
              </a:spcAft>
              <a:defRPr sz="1400">
                <a:solidFill>
                  <a:srgbClr val="2D2630"/>
                </a:solidFill>
                <a:latin typeface="Aptos"/>
              </a:defRPr>
            </a:pPr>
            <a:r>
              <a:t>• Endpoint trả HTTP 200.</a:t>
            </a:r>
          </a:p>
          <a:p>
            <a:pPr>
              <a:spcAft>
                <a:spcPts val="700"/>
              </a:spcAft>
              <a:defRPr sz="1400">
                <a:solidFill>
                  <a:srgbClr val="2D2630"/>
                </a:solidFill>
                <a:latin typeface="Aptos"/>
              </a:defRPr>
            </a:pPr>
            <a:r>
              <a:t>• advice hiển thị trong chatbot customer.</a:t>
            </a:r>
          </a:p>
          <a:p>
            <a:pPr>
              <a:spcAft>
                <a:spcPts val="700"/>
              </a:spcAft>
              <a:defRPr sz="1400">
                <a:solidFill>
                  <a:srgbClr val="2D2630"/>
                </a:solidFill>
                <a:latin typeface="Aptos"/>
              </a:defRPr>
            </a:pPr>
            <a:r>
              <a:t>• Khi provider lỗi, hệ thống không trả HTTP 500.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074920"/>
            <a:ext cx="30632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E914A"/>
                </a:solidFill>
                <a:latin typeface="Aptos"/>
              </a:rPr>
              <a:t>OpenAI fallback có trong code; cần tài khoản API còn credits để test phản hồi thật.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